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/>
              <a:t>Northstar Team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Internal Engineering Platforms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/>
              <a:t>Содержание</a:t>
            </a:r>
            <a:endParaRPr/>
          </a:p>
        </p:txBody>
      </p:sp>
      <p:sp>
        <p:nvSpPr>
          <p:cNvPr id="505" name="Google Shape;505;p5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Team Introduction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Product Impact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Development Roadmap</a:t>
            </a:r>
            <a:endParaRPr/>
          </a:p>
        </p:txBody>
      </p:sp>
      <p:sp>
        <p:nvSpPr>
          <p:cNvPr id="506" name="Google Shape;506;p50"/>
          <p:cNvSpPr/>
          <p:nvPr/>
        </p:nvSpPr>
        <p:spPr>
          <a:xfrm>
            <a:off x="354563" y="2341984"/>
            <a:ext cx="4142792" cy="2090058"/>
          </a:xfrm>
          <a:prstGeom prst="roundRect">
            <a:avLst>
              <a:gd fmla="val 23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type="title"/>
          </p:nvPr>
        </p:nvSpPr>
        <p:spPr>
          <a:xfrm>
            <a:off x="177970" y="282949"/>
            <a:ext cx="6792985" cy="397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Northstar Team</a:t>
            </a:r>
            <a:endParaRPr/>
          </a:p>
        </p:txBody>
      </p:sp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303214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3"/>
          <p:cNvSpPr/>
          <p:nvPr/>
        </p:nvSpPr>
        <p:spPr>
          <a:xfrm>
            <a:off x="625195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3"/>
          <p:cNvSpPr/>
          <p:nvPr/>
        </p:nvSpPr>
        <p:spPr>
          <a:xfrm>
            <a:off x="276488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Anna Lebedeva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3"/>
          <p:cNvSpPr/>
          <p:nvPr/>
        </p:nvSpPr>
        <p:spPr>
          <a:xfrm>
            <a:off x="369430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Product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3"/>
          <p:cNvSpPr/>
          <p:nvPr/>
        </p:nvSpPr>
        <p:spPr>
          <a:xfrm>
            <a:off x="2067385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3"/>
          <p:cNvSpPr/>
          <p:nvPr/>
        </p:nvSpPr>
        <p:spPr>
          <a:xfrm>
            <a:off x="2389366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3"/>
          <p:cNvSpPr/>
          <p:nvPr/>
        </p:nvSpPr>
        <p:spPr>
          <a:xfrm>
            <a:off x="2040659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Mikhail Orlov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3"/>
          <p:cNvSpPr/>
          <p:nvPr/>
        </p:nvSpPr>
        <p:spPr>
          <a:xfrm>
            <a:off x="2133601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3"/>
          <p:cNvSpPr/>
          <p:nvPr/>
        </p:nvSpPr>
        <p:spPr>
          <a:xfrm>
            <a:off x="3831556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3"/>
          <p:cNvSpPr/>
          <p:nvPr/>
        </p:nvSpPr>
        <p:spPr>
          <a:xfrm>
            <a:off x="4153536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3"/>
          <p:cNvSpPr/>
          <p:nvPr/>
        </p:nvSpPr>
        <p:spPr>
          <a:xfrm>
            <a:off x="3804829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Sofia Vlasova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3"/>
          <p:cNvSpPr/>
          <p:nvPr/>
        </p:nvSpPr>
        <p:spPr>
          <a:xfrm>
            <a:off x="3897772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ML Engineer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559572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3"/>
          <p:cNvSpPr/>
          <p:nvPr/>
        </p:nvSpPr>
        <p:spPr>
          <a:xfrm>
            <a:off x="5917707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3"/>
          <p:cNvSpPr/>
          <p:nvPr/>
        </p:nvSpPr>
        <p:spPr>
          <a:xfrm>
            <a:off x="5569000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Ilya Kim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3"/>
          <p:cNvSpPr/>
          <p:nvPr/>
        </p:nvSpPr>
        <p:spPr>
          <a:xfrm>
            <a:off x="5661942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Backend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3"/>
          <p:cNvSpPr/>
          <p:nvPr/>
        </p:nvSpPr>
        <p:spPr>
          <a:xfrm>
            <a:off x="735989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3"/>
          <p:cNvSpPr/>
          <p:nvPr/>
        </p:nvSpPr>
        <p:spPr>
          <a:xfrm>
            <a:off x="7681878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3"/>
          <p:cNvSpPr/>
          <p:nvPr/>
        </p:nvSpPr>
        <p:spPr>
          <a:xfrm>
            <a:off x="7333171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Maria Sokolova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3"/>
          <p:cNvSpPr/>
          <p:nvPr/>
        </p:nvSpPr>
        <p:spPr>
          <a:xfrm>
            <a:off x="7426113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UX Designer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3"/>
          <p:cNvSpPr/>
          <p:nvPr/>
        </p:nvSpPr>
        <p:spPr>
          <a:xfrm>
            <a:off x="303214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625195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276488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3"/>
          <p:cNvSpPr/>
          <p:nvPr/>
        </p:nvSpPr>
        <p:spPr>
          <a:xfrm>
            <a:off x="369430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3"/>
          <p:cNvSpPr/>
          <p:nvPr/>
        </p:nvSpPr>
        <p:spPr>
          <a:xfrm>
            <a:off x="2067385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89366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3"/>
          <p:cNvSpPr/>
          <p:nvPr/>
        </p:nvSpPr>
        <p:spPr>
          <a:xfrm>
            <a:off x="2040659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3"/>
          <p:cNvSpPr/>
          <p:nvPr/>
        </p:nvSpPr>
        <p:spPr>
          <a:xfrm>
            <a:off x="2133601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3"/>
          <p:cNvSpPr/>
          <p:nvPr/>
        </p:nvSpPr>
        <p:spPr>
          <a:xfrm>
            <a:off x="3831556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3"/>
          <p:cNvSpPr/>
          <p:nvPr/>
        </p:nvSpPr>
        <p:spPr>
          <a:xfrm>
            <a:off x="4153536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3"/>
          <p:cNvSpPr/>
          <p:nvPr/>
        </p:nvSpPr>
        <p:spPr>
          <a:xfrm>
            <a:off x="3804829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3"/>
          <p:cNvSpPr/>
          <p:nvPr/>
        </p:nvSpPr>
        <p:spPr>
          <a:xfrm>
            <a:off x="3897772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3"/>
          <p:cNvSpPr/>
          <p:nvPr/>
        </p:nvSpPr>
        <p:spPr>
          <a:xfrm>
            <a:off x="559572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3"/>
          <p:cNvSpPr/>
          <p:nvPr/>
        </p:nvSpPr>
        <p:spPr>
          <a:xfrm>
            <a:off x="5917707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3"/>
          <p:cNvSpPr/>
          <p:nvPr/>
        </p:nvSpPr>
        <p:spPr>
          <a:xfrm>
            <a:off x="5569000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5661942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3"/>
          <p:cNvSpPr/>
          <p:nvPr/>
        </p:nvSpPr>
        <p:spPr>
          <a:xfrm>
            <a:off x="735989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3"/>
          <p:cNvSpPr/>
          <p:nvPr/>
        </p:nvSpPr>
        <p:spPr>
          <a:xfrm>
            <a:off x="7681878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3"/>
          <p:cNvSpPr/>
          <p:nvPr/>
        </p:nvSpPr>
        <p:spPr>
          <a:xfrm>
            <a:off x="7333171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7426113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/>
              <a:t>Key Solutions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/>
              <a:t>Measurable Impact</a:t>
            </a:r>
            <a:endParaRPr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OrbitOps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Incident monitoring for 42 teams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DeployRail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2 800 releases/month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VectorDocs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18 000 docs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Product Impact</a:t>
            </a:r>
            <a:br>
              <a:rPr lang="en-US"/>
            </a:br>
            <a:r>
              <a:rPr lang="en-US"/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/>
              <a:t>Roadmap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/>
              <a:t>Q4 2026</a:t>
            </a:r>
            <a:endParaRPr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28" name="Google Shape;2428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32082"/>
            <a:ext cx="8515008" cy="9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89"/>
          <p:cNvSpPr/>
          <p:nvPr/>
        </p:nvSpPr>
        <p:spPr>
          <a:xfrm>
            <a:off x="553415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89"/>
          <p:cNvSpPr/>
          <p:nvPr/>
        </p:nvSpPr>
        <p:spPr>
          <a:xfrm>
            <a:off x="3565736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89"/>
          <p:cNvSpPr/>
          <p:nvPr/>
        </p:nvSpPr>
        <p:spPr>
          <a:xfrm>
            <a:off x="3565736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89"/>
          <p:cNvSpPr/>
          <p:nvPr/>
        </p:nvSpPr>
        <p:spPr>
          <a:xfrm>
            <a:off x="6578067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89"/>
          <p:cNvSpPr/>
          <p:nvPr/>
        </p:nvSpPr>
        <p:spPr>
          <a:xfrm>
            <a:off x="6578067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Q4 2026 Plan</a:t>
            </a:r>
            <a:endParaRPr/>
          </a:p>
        </p:txBody>
      </p:sp>
      <p:sp>
        <p:nvSpPr>
          <p:cNvPr id="2436" name="Google Shape;2436;p89"/>
          <p:cNvSpPr/>
          <p:nvPr/>
        </p:nvSpPr>
        <p:spPr>
          <a:xfrm>
            <a:off x="511399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Single sign-on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89"/>
          <p:cNvSpPr/>
          <p:nvPr/>
        </p:nvSpPr>
        <p:spPr>
          <a:xfrm>
            <a:off x="511399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8" name="Google Shape;2438;p89"/>
          <p:cNvSpPr/>
          <p:nvPr/>
        </p:nvSpPr>
        <p:spPr>
          <a:xfrm>
            <a:off x="511399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9" name="Google Shape;2439;p89"/>
          <p:cNvSpPr/>
          <p:nvPr/>
        </p:nvSpPr>
        <p:spPr>
          <a:xfrm>
            <a:off x="3565736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Unified analytics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89"/>
          <p:cNvSpPr/>
          <p:nvPr/>
        </p:nvSpPr>
        <p:spPr>
          <a:xfrm>
            <a:off x="3565736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1" name="Google Shape;2441;p89"/>
          <p:cNvSpPr/>
          <p:nvPr/>
        </p:nvSpPr>
        <p:spPr>
          <a:xfrm>
            <a:off x="3565736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2" name="Google Shape;2442;p89"/>
          <p:cNvSpPr/>
          <p:nvPr/>
        </p:nvSpPr>
        <p:spPr>
          <a:xfrm>
            <a:off x="6578057" y="211197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Integration catalog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89"/>
          <p:cNvSpPr/>
          <p:nvPr/>
        </p:nvSpPr>
        <p:spPr>
          <a:xfrm>
            <a:off x="6578057" y="232926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4" name="Google Shape;2444;p89"/>
          <p:cNvSpPr/>
          <p:nvPr/>
        </p:nvSpPr>
        <p:spPr>
          <a:xfrm>
            <a:off x="6578057" y="300285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QR-код</a:t>
            </a:r>
            <a:endParaRPr/>
          </a:p>
        </p:txBody>
      </p:sp>
      <p:sp>
        <p:nvSpPr>
          <p:cNvPr id="440" name="Google Shape;440;p4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41" name="Google Shape;441;p46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fmla="val 231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